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Inter Bold" charset="1" panose="02000503000000020004"/>
      <p:regular r:id="rId12"/>
    </p:embeddedFont>
    <p:embeddedFont>
      <p:font typeface="Inter" charset="1" panose="02000503000000020004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0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50238" y="3515620"/>
            <a:ext cx="9445523" cy="905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b="true" sz="5500" spc="-16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LatticeForge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50238" y="4524527"/>
            <a:ext cx="9445523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b="true" sz="2700" spc="-84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Pareto-Optimal Agent Capability Refactoring via Formal Concept Analysis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850238" y="5759348"/>
            <a:ext cx="9445523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 spc="-43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Smarter AI agents through mathematical capability reasoning — a new architecture that replaces guesswork with provable math.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50238" y="1234078"/>
            <a:ext cx="9445523" cy="780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65"/>
              </a:lnSpc>
            </a:pPr>
            <a:r>
              <a:rPr lang="en-US" b="true" sz="4700" spc="-144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Every AI Agent Eventually Breaks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50238" y="2271417"/>
            <a:ext cx="10359923" cy="419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7"/>
              </a:lnSpc>
            </a:pPr>
            <a:r>
              <a:rPr lang="en-US" sz="1900" spc="-3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Three scaling problems that silently erode agent reliability and maintainability:</a:t>
            </a:r>
          </a:p>
        </p:txBody>
      </p:sp>
      <p:sp>
        <p:nvSpPr>
          <p:cNvPr name="Freeform 10" id="10" descr="preencoded.png"/>
          <p:cNvSpPr/>
          <p:nvPr/>
        </p:nvSpPr>
        <p:spPr>
          <a:xfrm flipH="false" flipV="false" rot="0">
            <a:off x="7850238" y="2926404"/>
            <a:ext cx="9445523" cy="2137915"/>
          </a:xfrm>
          <a:custGeom>
            <a:avLst/>
            <a:gdLst/>
            <a:ahLst/>
            <a:cxnLst/>
            <a:rect r="r" b="b" t="t" l="l"/>
            <a:pathLst>
              <a:path h="2137915" w="9445523">
                <a:moveTo>
                  <a:pt x="0" y="0"/>
                </a:moveTo>
                <a:lnTo>
                  <a:pt x="9445524" y="0"/>
                </a:lnTo>
                <a:lnTo>
                  <a:pt x="9445524" y="2137915"/>
                </a:lnTo>
                <a:lnTo>
                  <a:pt x="0" y="21379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04" r="0" b="-104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236744" y="3189084"/>
            <a:ext cx="8786812" cy="390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b="true" sz="2300" spc="-72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Fuzzy Tool Retrieval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236744" y="3647780"/>
            <a:ext cx="8786812" cy="1144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7"/>
              </a:lnSpc>
            </a:pPr>
            <a:r>
              <a:rPr lang="en-US" sz="1900" spc="-3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Vector similarity selects tools that are merely similar — not the ones that actually satisfy the task specification. Leads to wrong calls and missed capabilities.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7850238" y="5273573"/>
            <a:ext cx="9445523" cy="1775517"/>
          </a:xfrm>
          <a:custGeom>
            <a:avLst/>
            <a:gdLst/>
            <a:ahLst/>
            <a:cxnLst/>
            <a:rect r="r" b="b" t="t" l="l"/>
            <a:pathLst>
              <a:path h="1775517" w="9445523">
                <a:moveTo>
                  <a:pt x="0" y="0"/>
                </a:moveTo>
                <a:lnTo>
                  <a:pt x="9445524" y="0"/>
                </a:lnTo>
                <a:lnTo>
                  <a:pt x="9445524" y="1775518"/>
                </a:lnTo>
                <a:lnTo>
                  <a:pt x="0" y="177551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141" r="0" b="-142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8236744" y="5536254"/>
            <a:ext cx="8786812" cy="390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b="true" sz="2300" spc="-72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Single-Strategy Blindness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236744" y="5994949"/>
            <a:ext cx="8786812" cy="781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7"/>
              </a:lnSpc>
            </a:pPr>
            <a:r>
              <a:rPr lang="en-US" sz="1900" spc="-3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One model, one prompt, one config for every task ignores multi-objective needs (latency, cost, accuracy). Suboptimal decisions at scale.</a:t>
            </a:r>
          </a:p>
        </p:txBody>
      </p:sp>
      <p:sp>
        <p:nvSpPr>
          <p:cNvPr name="Freeform 16" id="16" descr="preencoded.png"/>
          <p:cNvSpPr/>
          <p:nvPr/>
        </p:nvSpPr>
        <p:spPr>
          <a:xfrm flipH="false" flipV="false" rot="0">
            <a:off x="7850238" y="7258345"/>
            <a:ext cx="9445523" cy="1775517"/>
          </a:xfrm>
          <a:custGeom>
            <a:avLst/>
            <a:gdLst/>
            <a:ahLst/>
            <a:cxnLst/>
            <a:rect r="r" b="b" t="t" l="l"/>
            <a:pathLst>
              <a:path h="1775517" w="9445523">
                <a:moveTo>
                  <a:pt x="0" y="0"/>
                </a:moveTo>
                <a:lnTo>
                  <a:pt x="9445524" y="0"/>
                </a:lnTo>
                <a:lnTo>
                  <a:pt x="9445524" y="1775517"/>
                </a:lnTo>
                <a:lnTo>
                  <a:pt x="0" y="17755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141" r="0" b="-142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8236744" y="7521026"/>
            <a:ext cx="8786812" cy="390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b="true" sz="2300" spc="-72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Tool Bloat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236744" y="7979721"/>
            <a:ext cx="8786812" cy="781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7"/>
              </a:lnSpc>
            </a:pPr>
            <a:r>
              <a:rPr lang="en-US" sz="1900" spc="-3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Engineers add tools faster than they prune them. Redundancy accumulates; nobody can prove which tools are unnecessary.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785365"/>
            <a:ext cx="16303523" cy="873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14"/>
              </a:lnSpc>
            </a:pPr>
            <a:r>
              <a:rPr lang="en-US" b="true" sz="5299" spc="-16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What Exists Today — And Why It's Not Enough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87476" y="2329901"/>
            <a:ext cx="7831636" cy="6858152"/>
            <a:chOff x="0" y="0"/>
            <a:chExt cx="10442181" cy="914420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442194" cy="9144254"/>
            </a:xfrm>
            <a:custGeom>
              <a:avLst/>
              <a:gdLst/>
              <a:ahLst/>
              <a:cxnLst/>
              <a:rect r="r" b="b" t="t" l="l"/>
              <a:pathLst>
                <a:path h="9144254" w="10442194">
                  <a:moveTo>
                    <a:pt x="0" y="151511"/>
                  </a:moveTo>
                  <a:cubicBezTo>
                    <a:pt x="0" y="67818"/>
                    <a:pt x="67818" y="0"/>
                    <a:pt x="151511" y="0"/>
                  </a:cubicBezTo>
                  <a:lnTo>
                    <a:pt x="10290683" y="0"/>
                  </a:lnTo>
                  <a:cubicBezTo>
                    <a:pt x="10374376" y="0"/>
                    <a:pt x="10442194" y="67818"/>
                    <a:pt x="10442194" y="151511"/>
                  </a:cubicBezTo>
                  <a:lnTo>
                    <a:pt x="10442194" y="8992743"/>
                  </a:lnTo>
                  <a:cubicBezTo>
                    <a:pt x="10442194" y="9076437"/>
                    <a:pt x="10374376" y="9144254"/>
                    <a:pt x="10290683" y="9144254"/>
                  </a:cubicBezTo>
                  <a:lnTo>
                    <a:pt x="151511" y="9144254"/>
                  </a:lnTo>
                  <a:cubicBezTo>
                    <a:pt x="67818" y="9144254"/>
                    <a:pt x="0" y="9076309"/>
                    <a:pt x="0" y="8992743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2355" t="0" r="-62355" b="0"/>
              </a:stretch>
            </a:blipFill>
            <a:ln w="9526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992238" y="3099197"/>
            <a:ext cx="7822111" cy="16888"/>
            <a:chOff x="0" y="0"/>
            <a:chExt cx="10429481" cy="2251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429494" cy="22479"/>
            </a:xfrm>
            <a:custGeom>
              <a:avLst/>
              <a:gdLst/>
              <a:ahLst/>
              <a:cxnLst/>
              <a:rect r="r" b="b" t="t" l="l"/>
              <a:pathLst>
                <a:path h="22479" w="10429494">
                  <a:moveTo>
                    <a:pt x="0" y="0"/>
                  </a:moveTo>
                  <a:lnTo>
                    <a:pt x="10429494" y="0"/>
                  </a:lnTo>
                  <a:lnTo>
                    <a:pt x="10429494" y="22479"/>
                  </a:lnTo>
                  <a:lnTo>
                    <a:pt x="0" y="22479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92238" y="5125641"/>
            <a:ext cx="7822111" cy="16888"/>
            <a:chOff x="0" y="0"/>
            <a:chExt cx="10429481" cy="2251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429494" cy="22479"/>
            </a:xfrm>
            <a:custGeom>
              <a:avLst/>
              <a:gdLst/>
              <a:ahLst/>
              <a:cxnLst/>
              <a:rect r="r" b="b" t="t" l="l"/>
              <a:pathLst>
                <a:path h="22479" w="10429494">
                  <a:moveTo>
                    <a:pt x="0" y="0"/>
                  </a:moveTo>
                  <a:lnTo>
                    <a:pt x="10429494" y="0"/>
                  </a:lnTo>
                  <a:lnTo>
                    <a:pt x="10429494" y="22479"/>
                  </a:lnTo>
                  <a:lnTo>
                    <a:pt x="0" y="22479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92238" y="6729860"/>
            <a:ext cx="7822111" cy="16888"/>
            <a:chOff x="0" y="0"/>
            <a:chExt cx="10429481" cy="2251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429494" cy="22479"/>
            </a:xfrm>
            <a:custGeom>
              <a:avLst/>
              <a:gdLst/>
              <a:ahLst/>
              <a:cxnLst/>
              <a:rect r="r" b="b" t="t" l="l"/>
              <a:pathLst>
                <a:path h="22479" w="10429494">
                  <a:moveTo>
                    <a:pt x="0" y="0"/>
                  </a:moveTo>
                  <a:lnTo>
                    <a:pt x="10429494" y="0"/>
                  </a:lnTo>
                  <a:lnTo>
                    <a:pt x="10429494" y="22479"/>
                  </a:lnTo>
                  <a:lnTo>
                    <a:pt x="0" y="22479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272178" y="2441524"/>
            <a:ext cx="2949026" cy="488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b="true" sz="2100" spc="-42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Tool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847062" y="2441524"/>
            <a:ext cx="2949026" cy="488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b="true" sz="2100" spc="-42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What it does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421936" y="2441524"/>
            <a:ext cx="3027159" cy="488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b="true" sz="2100" spc="-42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What it misses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72178" y="3201295"/>
            <a:ext cx="2034626" cy="911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sz="2100" spc="-4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LangChain / CrewAI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847062" y="3201295"/>
            <a:ext cx="2034626" cy="911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sz="2100" spc="-4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Tool-calling with vector retrieval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421936" y="3201295"/>
            <a:ext cx="2112759" cy="1755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sz="2100" spc="-4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Fuzzy, not exact — no formal redundancy proofs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72178" y="5227739"/>
            <a:ext cx="2949026" cy="488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sz="2100" spc="-4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DSPy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847062" y="5227739"/>
            <a:ext cx="2034626" cy="1333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sz="2100" spc="-4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Optimizes prompts for a single metric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421936" y="5227739"/>
            <a:ext cx="2112759" cy="1333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sz="2100" spc="-4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No multi-objective trade-off handling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72178" y="6831959"/>
            <a:ext cx="2949026" cy="488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sz="2100" spc="-4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ReAct Agents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847062" y="6831959"/>
            <a:ext cx="2034626" cy="2177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sz="2100" spc="-4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Reason-then-act loops for dynamic decision-making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421936" y="6831959"/>
            <a:ext cx="2112759" cy="2177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sz="2100" spc="-4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Single strategy bias — no explicit cost/quality optimization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483176" y="2809875"/>
            <a:ext cx="7822111" cy="4399807"/>
            <a:chOff x="0" y="0"/>
            <a:chExt cx="10429481" cy="5866409"/>
          </a:xfrm>
        </p:grpSpPr>
        <p:sp>
          <p:nvSpPr>
            <p:cNvPr name="Freeform 28" id="28" descr="preencoded.png"/>
            <p:cNvSpPr/>
            <p:nvPr/>
          </p:nvSpPr>
          <p:spPr>
            <a:xfrm flipH="false" flipV="false" rot="0">
              <a:off x="0" y="0"/>
              <a:ext cx="10429494" cy="5866384"/>
            </a:xfrm>
            <a:custGeom>
              <a:avLst/>
              <a:gdLst/>
              <a:ahLst/>
              <a:cxnLst/>
              <a:rect r="r" b="b" t="t" l="l"/>
              <a:pathLst>
                <a:path h="5866384" w="10429494">
                  <a:moveTo>
                    <a:pt x="0" y="0"/>
                  </a:moveTo>
                  <a:lnTo>
                    <a:pt x="10429494" y="0"/>
                  </a:lnTo>
                  <a:lnTo>
                    <a:pt x="10429494" y="5866384"/>
                  </a:lnTo>
                  <a:lnTo>
                    <a:pt x="0" y="58663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9" t="0" r="-38" b="0"/>
              </a:stretch>
            </a:blip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9483176" y="7432777"/>
            <a:ext cx="7822111" cy="1333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sz="2100" spc="-4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Bottom line: existing systems optimize specific pieces (retrieval, prompting, loop design) but do not combine exact capability matching with explicit multi-objective trade-offs.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730551"/>
            <a:ext cx="16303523" cy="905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b="true" sz="5500" spc="-16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 Mathematical Foundation for Agent Capabilities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238" y="4202611"/>
            <a:ext cx="2312489" cy="2890542"/>
            <a:chOff x="0" y="0"/>
            <a:chExt cx="3083319" cy="3854056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3083306" cy="3854069"/>
            </a:xfrm>
            <a:custGeom>
              <a:avLst/>
              <a:gdLst/>
              <a:ahLst/>
              <a:cxnLst/>
              <a:rect r="r" b="b" t="t" l="l"/>
              <a:pathLst>
                <a:path h="3854069" w="3083306">
                  <a:moveTo>
                    <a:pt x="0" y="0"/>
                  </a:moveTo>
                  <a:lnTo>
                    <a:pt x="3083306" y="0"/>
                  </a:lnTo>
                  <a:lnTo>
                    <a:pt x="3083306" y="3854069"/>
                  </a:lnTo>
                  <a:lnTo>
                    <a:pt x="0" y="3854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42" r="0" b="-41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3659086" y="4193086"/>
            <a:ext cx="5307654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b="true" sz="2700" spc="-84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Formal Concept Analysis (FCA)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659086" y="4729905"/>
            <a:ext cx="5307654" cy="2807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 spc="-43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Model tools and tasks as a concept lattice. For each task, compute the exact concept (intent + extent) that identifies the minimal set of tools required — provably sound selection, not heuristic similarity.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321108" y="4202611"/>
            <a:ext cx="2312641" cy="2890685"/>
            <a:chOff x="0" y="0"/>
            <a:chExt cx="3083522" cy="3854247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3083560" cy="3854196"/>
            </a:xfrm>
            <a:custGeom>
              <a:avLst/>
              <a:gdLst/>
              <a:ahLst/>
              <a:cxnLst/>
              <a:rect r="r" b="b" t="t" l="l"/>
              <a:pathLst>
                <a:path h="3854196" w="3083560">
                  <a:moveTo>
                    <a:pt x="0" y="0"/>
                  </a:moveTo>
                  <a:lnTo>
                    <a:pt x="3083560" y="0"/>
                  </a:lnTo>
                  <a:lnTo>
                    <a:pt x="3083560" y="3854196"/>
                  </a:lnTo>
                  <a:lnTo>
                    <a:pt x="0" y="38541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3" r="1" b="-44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1988108" y="4193086"/>
            <a:ext cx="5307654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b="true" sz="2700" spc="-84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Pareto Frontier Optimization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988108" y="4729905"/>
            <a:ext cx="5307654" cy="2807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 spc="-43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Maintain a Pareto surface of configurations (fast, cheap, accurate) for each concept. At runtime, select the Pareto-optimal configuration aligned to contextual constraints (latency budgets, SLAs, cost ceilings).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751132"/>
            <a:ext cx="16303523" cy="693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16"/>
              </a:lnSpc>
            </a:pPr>
            <a:r>
              <a:rPr lang="en-US" b="true" sz="4100" spc="-126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From Task to Execution — Mathematically Simple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59361" y="1763163"/>
            <a:ext cx="16169135" cy="6972452"/>
            <a:chOff x="0" y="0"/>
            <a:chExt cx="21558847" cy="9296603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21558886" cy="9296654"/>
            </a:xfrm>
            <a:custGeom>
              <a:avLst/>
              <a:gdLst/>
              <a:ahLst/>
              <a:cxnLst/>
              <a:rect r="r" b="b" t="t" l="l"/>
              <a:pathLst>
                <a:path h="9296654" w="21558886">
                  <a:moveTo>
                    <a:pt x="0" y="0"/>
                  </a:moveTo>
                  <a:lnTo>
                    <a:pt x="21558886" y="0"/>
                  </a:lnTo>
                  <a:lnTo>
                    <a:pt x="21558886" y="9296654"/>
                  </a:lnTo>
                  <a:lnTo>
                    <a:pt x="0" y="9296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53" r="0" b="-53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2147430" y="7403849"/>
            <a:ext cx="3668201" cy="468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4"/>
              </a:lnSpc>
            </a:pPr>
            <a:r>
              <a:rPr lang="en-US" b="true" sz="2799" spc="-86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Select Config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47430" y="5789847"/>
            <a:ext cx="3668201" cy="468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4"/>
              </a:lnSpc>
            </a:pPr>
            <a:r>
              <a:rPr lang="en-US" b="true" sz="2799" spc="-86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Find Concept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47430" y="4192143"/>
            <a:ext cx="3668201" cy="468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4"/>
              </a:lnSpc>
            </a:pPr>
            <a:r>
              <a:rPr lang="en-US" b="true" sz="2799" spc="-86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Extract Capabilities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147430" y="2578132"/>
            <a:ext cx="3668201" cy="468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4"/>
              </a:lnSpc>
            </a:pPr>
            <a:r>
              <a:rPr lang="en-US" b="true" sz="2799" spc="-86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Task Arrives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2238" y="8876852"/>
            <a:ext cx="16303523" cy="633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600" spc="-34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Caption: The pipeline enforces correctness at two points — exact capability matching via FCA, and context-aware config selection via Pareto optimization — producing reliable, efficient executions.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845639"/>
            <a:ext cx="16303523" cy="835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64"/>
              </a:lnSpc>
            </a:pPr>
            <a:r>
              <a:rPr lang="en-US" b="true" sz="5100" spc="-153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What LatticeForge Changes</a:t>
            </a:r>
          </a:p>
        </p:txBody>
      </p:sp>
      <p:sp>
        <p:nvSpPr>
          <p:cNvPr name="Freeform 7" id="7" descr="preencoded.png"/>
          <p:cNvSpPr/>
          <p:nvPr/>
        </p:nvSpPr>
        <p:spPr>
          <a:xfrm flipH="false" flipV="false" rot="0">
            <a:off x="992238" y="2163366"/>
            <a:ext cx="5273878" cy="3950941"/>
          </a:xfrm>
          <a:custGeom>
            <a:avLst/>
            <a:gdLst/>
            <a:ahLst/>
            <a:cxnLst/>
            <a:rect r="r" b="b" t="t" l="l"/>
            <a:pathLst>
              <a:path h="3950941" w="5273878">
                <a:moveTo>
                  <a:pt x="0" y="0"/>
                </a:moveTo>
                <a:lnTo>
                  <a:pt x="5273878" y="0"/>
                </a:lnTo>
                <a:lnTo>
                  <a:pt x="5273878" y="3950941"/>
                </a:lnTo>
                <a:lnTo>
                  <a:pt x="0" y="39509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" t="0" r="-3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396451" y="2443753"/>
            <a:ext cx="4579744" cy="417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b="true" sz="2499" spc="-77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From Approximate → Exact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96451" y="2939358"/>
            <a:ext cx="4579744" cy="2075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2"/>
              </a:lnSpc>
            </a:pPr>
            <a:r>
              <a:rPr lang="en-US" sz="2000" spc="-4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Tool matching is provably correct: the lattice yields the exact set of capabilities required for a task, eliminating guesswork and false positives.</a:t>
            </a:r>
          </a:p>
        </p:txBody>
      </p:sp>
      <p:sp>
        <p:nvSpPr>
          <p:cNvPr name="Freeform 10" id="10" descr="preencoded.png"/>
          <p:cNvSpPr/>
          <p:nvPr/>
        </p:nvSpPr>
        <p:spPr>
          <a:xfrm flipH="false" flipV="false" rot="0">
            <a:off x="6507061" y="2163366"/>
            <a:ext cx="5273878" cy="3950941"/>
          </a:xfrm>
          <a:custGeom>
            <a:avLst/>
            <a:gdLst/>
            <a:ahLst/>
            <a:cxnLst/>
            <a:rect r="r" b="b" t="t" l="l"/>
            <a:pathLst>
              <a:path h="3950941" w="5273878">
                <a:moveTo>
                  <a:pt x="0" y="0"/>
                </a:moveTo>
                <a:lnTo>
                  <a:pt x="5273878" y="0"/>
                </a:lnTo>
                <a:lnTo>
                  <a:pt x="5273878" y="3950941"/>
                </a:lnTo>
                <a:lnTo>
                  <a:pt x="0" y="39509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" t="0" r="-3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911283" y="2443753"/>
            <a:ext cx="4579744" cy="825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b="true" sz="2499" spc="-77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From One Strategy → Optimal Strategy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911283" y="3347590"/>
            <a:ext cx="4579744" cy="2075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2"/>
              </a:lnSpc>
            </a:pPr>
            <a:r>
              <a:rPr lang="en-US" sz="2000" spc="-4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Multiple Pareto-optimal configurations are available for each concept; the system selects the one aligned to contextual objectives (latency, cost, accuracy).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12021893" y="2163366"/>
            <a:ext cx="5273878" cy="3950941"/>
          </a:xfrm>
          <a:custGeom>
            <a:avLst/>
            <a:gdLst/>
            <a:ahLst/>
            <a:cxnLst/>
            <a:rect r="r" b="b" t="t" l="l"/>
            <a:pathLst>
              <a:path h="3950941" w="5273878">
                <a:moveTo>
                  <a:pt x="0" y="0"/>
                </a:moveTo>
                <a:lnTo>
                  <a:pt x="5273878" y="0"/>
                </a:lnTo>
                <a:lnTo>
                  <a:pt x="5273878" y="3950941"/>
                </a:lnTo>
                <a:lnTo>
                  <a:pt x="0" y="39509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" t="0" r="-3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2426105" y="2443753"/>
            <a:ext cx="4579744" cy="825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b="true" sz="2499" spc="-77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From Manual Maintenance → Self-Aware Agents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426105" y="3347590"/>
            <a:ext cx="4579744" cy="2476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2"/>
              </a:lnSpc>
            </a:pPr>
            <a:r>
              <a:rPr lang="en-US" sz="2000" spc="-4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The lattice exposes redundancy and gaps: engineers can prove which tools are redundant and which capabilities are missing, enabling principled pruning and targeted tool development.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92238" y="6450654"/>
            <a:ext cx="16303523" cy="28575"/>
            <a:chOff x="0" y="0"/>
            <a:chExt cx="21738031" cy="381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738082" cy="38100"/>
            </a:xfrm>
            <a:custGeom>
              <a:avLst/>
              <a:gdLst/>
              <a:ahLst/>
              <a:cxnLst/>
              <a:rect r="r" b="b" t="t" l="l"/>
              <a:pathLst>
                <a:path h="38100" w="21738082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1719032" y="0"/>
                  </a:lnTo>
                  <a:cubicBezTo>
                    <a:pt x="21729573" y="0"/>
                    <a:pt x="21738082" y="8509"/>
                    <a:pt x="21738082" y="19050"/>
                  </a:cubicBezTo>
                  <a:cubicBezTo>
                    <a:pt x="21738082" y="29591"/>
                    <a:pt x="21729573" y="38100"/>
                    <a:pt x="21719032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272525">
                <a:alpha val="24706"/>
              </a:srgbClr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384249" y="7019925"/>
            <a:ext cx="16825912" cy="46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2"/>
              </a:lnSpc>
            </a:pPr>
            <a:r>
              <a:rPr lang="en-US" sz="2000" spc="-4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"An agent that cannot reason about what it can do is not an agent. It is a script."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92238" y="6815585"/>
            <a:ext cx="28575" cy="943718"/>
            <a:chOff x="0" y="0"/>
            <a:chExt cx="38100" cy="125829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8100" cy="1258316"/>
            </a:xfrm>
            <a:custGeom>
              <a:avLst/>
              <a:gdLst/>
              <a:ahLst/>
              <a:cxnLst/>
              <a:rect r="r" b="b" t="t" l="l"/>
              <a:pathLst>
                <a:path h="1258316" w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1239266"/>
                  </a:lnTo>
                  <a:cubicBezTo>
                    <a:pt x="38100" y="1249807"/>
                    <a:pt x="29591" y="1258316"/>
                    <a:pt x="19050" y="1258316"/>
                  </a:cubicBezTo>
                  <a:cubicBezTo>
                    <a:pt x="8509" y="1258316"/>
                    <a:pt x="0" y="1249807"/>
                    <a:pt x="0" y="1239266"/>
                  </a:cubicBezTo>
                  <a:close/>
                </a:path>
              </a:pathLst>
            </a:custGeom>
            <a:solidFill>
              <a:srgbClr val="4950BC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992238" y="8030318"/>
            <a:ext cx="16303523" cy="1391841"/>
            <a:chOff x="0" y="0"/>
            <a:chExt cx="21738031" cy="185578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737955" cy="1855724"/>
            </a:xfrm>
            <a:custGeom>
              <a:avLst/>
              <a:gdLst/>
              <a:ahLst/>
              <a:cxnLst/>
              <a:rect r="r" b="b" t="t" l="l"/>
              <a:pathLst>
                <a:path h="1855724" w="21737955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1591651" y="0"/>
                  </a:lnTo>
                  <a:cubicBezTo>
                    <a:pt x="21672550" y="0"/>
                    <a:pt x="21737955" y="65532"/>
                    <a:pt x="21737955" y="146304"/>
                  </a:cubicBezTo>
                  <a:lnTo>
                    <a:pt x="21737955" y="1709420"/>
                  </a:lnTo>
                  <a:cubicBezTo>
                    <a:pt x="21737955" y="1790319"/>
                    <a:pt x="21672423" y="1855724"/>
                    <a:pt x="21591651" y="1855724"/>
                  </a:cubicBezTo>
                  <a:lnTo>
                    <a:pt x="146304" y="1855724"/>
                  </a:lnTo>
                  <a:cubicBezTo>
                    <a:pt x="65532" y="1855724"/>
                    <a:pt x="0" y="1790319"/>
                    <a:pt x="0" y="1709420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253576" y="8404469"/>
            <a:ext cx="326679" cy="261337"/>
            <a:chOff x="0" y="0"/>
            <a:chExt cx="435572" cy="348450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435610" cy="348488"/>
            </a:xfrm>
            <a:custGeom>
              <a:avLst/>
              <a:gdLst/>
              <a:ahLst/>
              <a:cxnLst/>
              <a:rect r="r" b="b" t="t" l="l"/>
              <a:pathLst>
                <a:path h="348488" w="435610">
                  <a:moveTo>
                    <a:pt x="0" y="0"/>
                  </a:moveTo>
                  <a:lnTo>
                    <a:pt x="435610" y="0"/>
                  </a:lnTo>
                  <a:lnTo>
                    <a:pt x="435610" y="348488"/>
                  </a:lnTo>
                  <a:lnTo>
                    <a:pt x="0" y="348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8" b="7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841602" y="8269929"/>
            <a:ext cx="15192823" cy="870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2"/>
              </a:lnSpc>
            </a:pPr>
            <a:r>
              <a:rPr lang="en-US" sz="2000" spc="-4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Design notes: Dark theme with electric blue/purple accents; use icons for lattice, Pareto, and execution when expanding the deck.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DAHRYrSUnfg</dc:identifier>
  <dcterms:modified xsi:type="dcterms:W3CDTF">2011-08-01T06:04:30Z</dcterms:modified>
  <cp:revision>1</cp:revision>
</cp:coreProperties>
</file>